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02-Sep-26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02-Sep-26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02-Sep-26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02-Sep-26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02-Sep-26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02-Sep-26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zenodo.org/records/7711810" TargetMode="External"/><Relationship Id="rId13" Type="http://schemas.openxmlformats.org/officeDocument/2006/relationships/hyperlink" Target="https://zenodo.org/records/10891137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2003.07333" TargetMode="External"/><Relationship Id="rId12" Type="http://schemas.openxmlformats.org/officeDocument/2006/relationships/hyperlink" Target="https://arxiv.org/abs/2112.0634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706.03762" TargetMode="External"/><Relationship Id="rId11" Type="http://schemas.openxmlformats.org/officeDocument/2006/relationships/hyperlink" Target="https://justchenhao.github.io/LEVIR/" TargetMode="External"/><Relationship Id="rId5" Type="http://schemas.openxmlformats.org/officeDocument/2006/relationships/hyperlink" Target="https://arxiv.org/abs/1612.03144" TargetMode="External"/><Relationship Id="rId15" Type="http://schemas.openxmlformats.org/officeDocument/2006/relationships/hyperlink" Target="https://github.com/Raghavapranav3443/Anvesha" TargetMode="External"/><Relationship Id="rId10" Type="http://schemas.openxmlformats.org/officeDocument/2006/relationships/hyperlink" Target="https://zenodo.org/records/6344333" TargetMode="External"/><Relationship Id="rId4" Type="http://schemas.openxmlformats.org/officeDocument/2006/relationships/hyperlink" Target="https://arxiv.org/abs/1512.03385" TargetMode="External"/><Relationship Id="rId9" Type="http://schemas.openxmlformats.org/officeDocument/2006/relationships/hyperlink" Target="https://arxiv.org/abs/1709.00029" TargetMode="External"/><Relationship Id="rId14" Type="http://schemas.openxmlformats.org/officeDocument/2006/relationships/hyperlink" Target="https://huggingface.co/datasets/BIFOLD-BigEarthNetv2-0/BigEarthNet.t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-389612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387" y="1506367"/>
            <a:ext cx="6124503" cy="496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SIH26167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Interactive Vision-Language Assistant for Multimodal Remote Sensing Image Analysis through Text Queries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Theme: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Category: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ID:</a:t>
            </a:r>
          </a:p>
          <a:p>
            <a:pPr algn="just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17445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ANVESHA</a:t>
            </a:r>
            <a:endParaRPr lang="en-US" sz="4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5" y="129001"/>
            <a:ext cx="1371768" cy="807334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Team</a:t>
            </a:r>
            <a:r>
              <a:rPr lang="en-IN" sz="2800" b="1" dirty="0">
                <a:latin typeface="Aptos" panose="020B0004020202020204" pitchFamily="34" charset="0"/>
              </a:rPr>
              <a:t> </a:t>
            </a:r>
            <a:r>
              <a:rPr lang="en-IN" sz="4000" b="1" dirty="0">
                <a:latin typeface="Agency FB" panose="020B0503020202020204" pitchFamily="34" charset="0"/>
              </a:rPr>
              <a:t>MCS</a:t>
            </a:r>
            <a:endParaRPr lang="en-IN" sz="3600" b="1" dirty="0">
              <a:latin typeface="Agency FB" panose="020B0503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29001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ACAF43-2423-9E57-08AD-F0D43ADB6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042" y="1191338"/>
            <a:ext cx="7060894" cy="4161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BF40BE-6DBB-AE13-DCF1-852B2AE94223}"/>
              </a:ext>
            </a:extLst>
          </p:cNvPr>
          <p:cNvSpPr txBox="1"/>
          <p:nvPr/>
        </p:nvSpPr>
        <p:spPr>
          <a:xfrm>
            <a:off x="427758" y="1272411"/>
            <a:ext cx="611128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Satellites send down terabytes of imagery</a:t>
            </a:r>
          </a:p>
          <a:p>
            <a:r>
              <a:rPr lang="en-US" sz="1700" dirty="0"/>
              <a:t> daily, but every question still needs a GIS expert,</a:t>
            </a:r>
          </a:p>
          <a:p>
            <a:r>
              <a:rPr lang="en-US" sz="1700" dirty="0"/>
              <a:t> </a:t>
            </a:r>
            <a:r>
              <a:rPr lang="en-US" sz="1700" b="1" dirty="0"/>
              <a:t>expensive software</a:t>
            </a:r>
            <a:r>
              <a:rPr lang="en-US" sz="1700" dirty="0"/>
              <a:t>, and </a:t>
            </a:r>
            <a:r>
              <a:rPr lang="en-US" sz="1700" b="1" dirty="0"/>
              <a:t>days of manual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Ask in </a:t>
            </a:r>
            <a:r>
              <a:rPr lang="en-US" sz="1700" b="1" dirty="0"/>
              <a:t>plain English, get evidence</a:t>
            </a:r>
            <a:r>
              <a:rPr lang="en-US" sz="1700" dirty="0"/>
              <a:t>, not text</a:t>
            </a:r>
          </a:p>
          <a:p>
            <a:r>
              <a:rPr lang="en-US" sz="1700" dirty="0"/>
              <a:t>Our agent routes every query to specialist models </a:t>
            </a:r>
          </a:p>
          <a:p>
            <a:r>
              <a:rPr lang="en-US" sz="1700" dirty="0"/>
              <a:t>and returns answers </a:t>
            </a:r>
            <a:r>
              <a:rPr lang="en-US" sz="1700" b="1" dirty="0"/>
              <a:t>with</a:t>
            </a:r>
            <a:r>
              <a:rPr lang="en-US" sz="1700" dirty="0"/>
              <a:t> confidence scores,</a:t>
            </a:r>
          </a:p>
          <a:p>
            <a:r>
              <a:rPr lang="en-US" sz="1700" dirty="0"/>
              <a:t> highlighted map overlays </a:t>
            </a:r>
            <a:r>
              <a:rPr lang="en-US" sz="1700" b="1" dirty="0"/>
              <a:t>not </a:t>
            </a:r>
            <a:r>
              <a:rPr lang="en-US" sz="1700" dirty="0"/>
              <a:t>paragraphs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Reliability: </a:t>
            </a:r>
            <a:r>
              <a:rPr lang="en-US" sz="1700" dirty="0"/>
              <a:t>Every answer comes with a trail</a:t>
            </a:r>
          </a:p>
          <a:p>
            <a:r>
              <a:rPr lang="en-US" sz="1700" b="1" dirty="0"/>
              <a:t>Each decision </a:t>
            </a:r>
            <a:r>
              <a:rPr lang="en-US" sz="1700" b="1" dirty="0">
                <a:sym typeface="Wingdings" panose="05000000000000000000" pitchFamily="2" charset="2"/>
              </a:rPr>
              <a:t></a:t>
            </a:r>
            <a:r>
              <a:rPr lang="en-US" sz="1700" b="1" dirty="0"/>
              <a:t> task chosen, model used, </a:t>
            </a:r>
          </a:p>
          <a:p>
            <a:r>
              <a:rPr lang="en-US" sz="1700" b="1" dirty="0"/>
              <a:t>parameters bound, time taken</a:t>
            </a:r>
            <a:r>
              <a:rPr lang="en-US" sz="1700" dirty="0"/>
              <a:t> recorded in </a:t>
            </a:r>
          </a:p>
          <a:p>
            <a:r>
              <a:rPr lang="en-US" sz="1700" dirty="0"/>
              <a:t>auditable execution trace, so an analyst can </a:t>
            </a:r>
          </a:p>
          <a:p>
            <a:r>
              <a:rPr lang="en-US" sz="1700" dirty="0"/>
              <a:t>defend any finding months later</a:t>
            </a:r>
          </a:p>
          <a:p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Security: </a:t>
            </a:r>
            <a:r>
              <a:rPr lang="en-US" sz="1700" dirty="0"/>
              <a:t>Built for secure facilities, not the cloud</a:t>
            </a:r>
          </a:p>
          <a:p>
            <a:r>
              <a:rPr lang="en-US" sz="1700" dirty="0"/>
              <a:t> </a:t>
            </a:r>
            <a:r>
              <a:rPr lang="en-US" sz="1700" b="1" dirty="0"/>
              <a:t>CPU-only</a:t>
            </a:r>
            <a:r>
              <a:rPr lang="en-US" sz="1700" dirty="0"/>
              <a:t> inference, </a:t>
            </a:r>
            <a:r>
              <a:rPr lang="en-US" sz="1700" b="1" dirty="0"/>
              <a:t>zero internet </a:t>
            </a:r>
            <a:r>
              <a:rPr lang="en-US" sz="1700" dirty="0"/>
              <a:t>:</a:t>
            </a:r>
          </a:p>
          <a:p>
            <a:r>
              <a:rPr lang="en-US" sz="1700" dirty="0"/>
              <a:t> it runs entirely inside an </a:t>
            </a:r>
            <a:r>
              <a:rPr lang="en-US" sz="1700" b="1" dirty="0"/>
              <a:t>air-gapped lab</a:t>
            </a:r>
            <a:r>
              <a:rPr lang="en-US" sz="1700" dirty="0"/>
              <a:t>, with compact int8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38914"/>
            <a:ext cx="12191999" cy="31908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1001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3891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24628-8E1A-ED25-9DD8-6888A9E7D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49781"/>
            <a:ext cx="12191999" cy="567199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47625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E8D5E31-383C-C158-6893-EBE537BD36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342271" cy="807334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Team</a:t>
            </a:r>
            <a:r>
              <a:rPr lang="en-IN" sz="2800" b="1" dirty="0">
                <a:latin typeface="Aptos" panose="020B0004020202020204" pitchFamily="34" charset="0"/>
              </a:rPr>
              <a:t> </a:t>
            </a:r>
            <a:r>
              <a:rPr lang="en-IN" sz="4000" b="1" dirty="0">
                <a:latin typeface="Agency FB" panose="020B0503020202020204" pitchFamily="34" charset="0"/>
              </a:rPr>
              <a:t>MCS</a:t>
            </a:r>
            <a:endParaRPr lang="en-IN" sz="3600" b="1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418A85-2214-2165-987A-3061F0526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8" cy="6356353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6BBF12F-8ABA-F322-B7D4-BFB8F7AD0E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21935"/>
            <a:ext cx="1617575" cy="80733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Team</a:t>
            </a:r>
            <a:r>
              <a:rPr lang="en-IN" sz="2800" b="1" dirty="0">
                <a:latin typeface="Aptos" panose="020B0004020202020204" pitchFamily="34" charset="0"/>
              </a:rPr>
              <a:t> </a:t>
            </a:r>
            <a:r>
              <a:rPr lang="en-IN" sz="4000" b="1" dirty="0">
                <a:latin typeface="Agency FB" panose="020B0503020202020204" pitchFamily="34" charset="0"/>
              </a:rPr>
              <a:t>MCS</a:t>
            </a:r>
            <a:endParaRPr lang="en-IN" sz="3600" b="1" dirty="0">
              <a:latin typeface="Agency FB" panose="020B0503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32856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3A0601-9B29-D0D7-F522-3A90396D4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76748"/>
            <a:ext cx="12191998" cy="557635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3AE52B2-F4E4-3AA8-A514-B944F7EFB2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617575" cy="807334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Team</a:t>
            </a:r>
            <a:r>
              <a:rPr lang="en-IN" sz="2800" b="1" dirty="0">
                <a:latin typeface="Aptos" panose="020B0004020202020204" pitchFamily="34" charset="0"/>
              </a:rPr>
              <a:t> </a:t>
            </a:r>
            <a:r>
              <a:rPr lang="en-IN" sz="4000" b="1" dirty="0">
                <a:latin typeface="Agency FB" panose="020B0503020202020204" pitchFamily="34" charset="0"/>
              </a:rPr>
              <a:t>MCS</a:t>
            </a:r>
            <a:endParaRPr lang="en-IN" sz="3600" b="1" dirty="0">
              <a:latin typeface="Agency FB" panose="020B0503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29001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064" y="8866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29001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54BB2F6-F98F-DB9A-26A3-66C58E9FF7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617575" cy="807334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Team</a:t>
            </a:r>
            <a:r>
              <a:rPr lang="en-IN" sz="2800" b="1" dirty="0">
                <a:latin typeface="Aptos" panose="020B0004020202020204" pitchFamily="34" charset="0"/>
              </a:rPr>
              <a:t> </a:t>
            </a:r>
            <a:r>
              <a:rPr lang="en-IN" sz="4000" b="1" dirty="0">
                <a:latin typeface="Agency FB" panose="020B0503020202020204" pitchFamily="34" charset="0"/>
              </a:rPr>
              <a:t>MCS</a:t>
            </a:r>
            <a:endParaRPr lang="en-IN" sz="3600" b="1" dirty="0">
              <a:latin typeface="Agency FB" panose="020B05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E2F312-075C-4EFA-6D6D-5438503F8E5A}"/>
              </a:ext>
            </a:extLst>
          </p:cNvPr>
          <p:cNvSpPr txBox="1"/>
          <p:nvPr/>
        </p:nvSpPr>
        <p:spPr>
          <a:xfrm>
            <a:off x="776746" y="2928889"/>
            <a:ext cx="531925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Foundational Research Papers</a:t>
            </a:r>
          </a:p>
          <a:p>
            <a:r>
              <a:rPr lang="en-US" sz="1600" dirty="0"/>
              <a:t>- </a:t>
            </a:r>
            <a:r>
              <a:rPr lang="en-US" sz="1600" dirty="0" err="1"/>
              <a:t>ResNet</a:t>
            </a:r>
            <a:r>
              <a:rPr lang="en-US" sz="1600" dirty="0"/>
              <a:t> (scene encoder backbone)</a:t>
            </a:r>
          </a:p>
          <a:p>
            <a:r>
              <a:rPr lang="en-US" sz="1600" dirty="0"/>
              <a:t>CVPR 2016</a:t>
            </a:r>
          </a:p>
          <a:p>
            <a:r>
              <a:rPr lang="en-US" sz="1600" dirty="0"/>
              <a:t>  </a:t>
            </a:r>
            <a:r>
              <a:rPr lang="en-US" sz="1600" dirty="0">
                <a:hlinkClick r:id="rId4"/>
              </a:rPr>
              <a:t>https://arxiv.org/abs/1512.03385</a:t>
            </a:r>
            <a:endParaRPr lang="en-US" sz="1600" dirty="0"/>
          </a:p>
          <a:p>
            <a:r>
              <a:rPr lang="en-US" sz="1600" dirty="0"/>
              <a:t>- Feature Pyramid Networks (FPN) (change detection decoder)</a:t>
            </a:r>
          </a:p>
          <a:p>
            <a:r>
              <a:rPr lang="en-US" sz="1600" dirty="0"/>
              <a:t>CVPR 2017</a:t>
            </a:r>
          </a:p>
          <a:p>
            <a:r>
              <a:rPr lang="en-US" sz="1600" dirty="0"/>
              <a:t>  </a:t>
            </a:r>
            <a:r>
              <a:rPr lang="en-US" sz="1600" dirty="0">
                <a:hlinkClick r:id="rId5"/>
              </a:rPr>
              <a:t>https://arxiv.org/abs/1612.03144</a:t>
            </a:r>
            <a:endParaRPr lang="en-US" sz="1600" dirty="0"/>
          </a:p>
          <a:p>
            <a:r>
              <a:rPr lang="en-US" sz="1600" dirty="0"/>
              <a:t>- Transformer (caption decoder)</a:t>
            </a:r>
          </a:p>
          <a:p>
            <a:r>
              <a:rPr lang="en-US" sz="1600" dirty="0" err="1"/>
              <a:t>NeurIPS</a:t>
            </a:r>
            <a:r>
              <a:rPr lang="en-US" sz="1600" dirty="0"/>
              <a:t> 2017</a:t>
            </a:r>
          </a:p>
          <a:p>
            <a:r>
              <a:rPr lang="en-US" sz="1600" dirty="0"/>
              <a:t>  </a:t>
            </a:r>
            <a:r>
              <a:rPr lang="en-US" sz="1600" dirty="0">
                <a:hlinkClick r:id="rId6"/>
              </a:rPr>
              <a:t>https://arxiv.org/abs/1706.03762</a:t>
            </a:r>
            <a:endParaRPr lang="en-US" sz="1600" dirty="0"/>
          </a:p>
          <a:p>
            <a:r>
              <a:rPr lang="en-US" sz="1600" dirty="0"/>
              <a:t>- RSVQA (visual question answering on satellite images)</a:t>
            </a:r>
          </a:p>
          <a:p>
            <a:r>
              <a:rPr lang="en-US" sz="1600" dirty="0"/>
              <a:t>IEEE TGRS 2020</a:t>
            </a:r>
          </a:p>
          <a:p>
            <a:r>
              <a:rPr lang="en-US" sz="1600" dirty="0"/>
              <a:t>  </a:t>
            </a:r>
            <a:r>
              <a:rPr lang="en-US" sz="1600" dirty="0">
                <a:hlinkClick r:id="rId7"/>
              </a:rPr>
              <a:t>https://arxiv.org/abs/2003.07333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C18A4-2B8F-AA6A-ED41-E12821F8FDBA}"/>
              </a:ext>
            </a:extLst>
          </p:cNvPr>
          <p:cNvSpPr txBox="1"/>
          <p:nvPr/>
        </p:nvSpPr>
        <p:spPr>
          <a:xfrm>
            <a:off x="6204155" y="1543894"/>
            <a:ext cx="525817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Benchmark Datasets Used for Training and Evaluation</a:t>
            </a:r>
          </a:p>
          <a:p>
            <a:r>
              <a:rPr lang="en-US" sz="1600" dirty="0"/>
              <a:t>- </a:t>
            </a:r>
            <a:r>
              <a:rPr lang="en-US" sz="1600" dirty="0" err="1"/>
              <a:t>EuroSAT</a:t>
            </a:r>
            <a:r>
              <a:rPr lang="en-US" sz="1600" dirty="0"/>
              <a:t> (land cover classification, Sentinel-2)</a:t>
            </a:r>
          </a:p>
          <a:p>
            <a:r>
              <a:rPr lang="en-US" sz="1600" dirty="0"/>
              <a:t>  Dataset: </a:t>
            </a:r>
            <a:r>
              <a:rPr lang="en-US" sz="1600" dirty="0">
                <a:hlinkClick r:id="rId8"/>
              </a:rPr>
              <a:t>https://zenodo.org/records/7711810</a:t>
            </a:r>
            <a:endParaRPr lang="en-US" sz="1600" dirty="0"/>
          </a:p>
          <a:p>
            <a:r>
              <a:rPr lang="en-US" sz="1600" dirty="0"/>
              <a:t>  Paper: </a:t>
            </a:r>
            <a:r>
              <a:rPr lang="en-US" sz="1600" dirty="0">
                <a:hlinkClick r:id="rId9"/>
              </a:rPr>
              <a:t>https://arxiv.org/abs/1709.00029 </a:t>
            </a:r>
            <a:endParaRPr lang="en-US" sz="1600" dirty="0"/>
          </a:p>
          <a:p>
            <a:r>
              <a:rPr lang="en-US" sz="1600" dirty="0"/>
              <a:t>- RSVQA-LR (low-resolution VQA triplets)</a:t>
            </a:r>
          </a:p>
          <a:p>
            <a:r>
              <a:rPr lang="en-US" sz="1600" dirty="0"/>
              <a:t>  Dataset: </a:t>
            </a:r>
            <a:r>
              <a:rPr lang="en-US" sz="1600" dirty="0">
                <a:hlinkClick r:id="rId10"/>
              </a:rPr>
              <a:t>https://zenodo.org/records/6344333</a:t>
            </a:r>
            <a:endParaRPr lang="en-US" sz="1600" dirty="0"/>
          </a:p>
          <a:p>
            <a:r>
              <a:rPr lang="en-US" sz="1600" dirty="0"/>
              <a:t>- LEVIR-CD (bi-temporal building change detection)</a:t>
            </a:r>
          </a:p>
          <a:p>
            <a:r>
              <a:rPr lang="en-US" sz="1600" dirty="0"/>
              <a:t>  </a:t>
            </a:r>
            <a:r>
              <a:rPr lang="en-US" sz="1600" dirty="0">
                <a:hlinkClick r:id="rId11"/>
              </a:rPr>
              <a:t>https://justchenhao.github.io/LEVIR/</a:t>
            </a:r>
            <a:endParaRPr lang="en-US" sz="1600" dirty="0"/>
          </a:p>
          <a:p>
            <a:r>
              <a:rPr lang="en-US" sz="1600" dirty="0"/>
              <a:t>- CDVQA (change detection VQA)</a:t>
            </a:r>
          </a:p>
          <a:p>
            <a:r>
              <a:rPr lang="en-US" sz="1600" dirty="0"/>
              <a:t>  Repository: </a:t>
            </a:r>
            <a:r>
              <a:rPr lang="en-US" sz="1600" dirty="0">
                <a:hlinkClick r:id="rId11"/>
              </a:rPr>
              <a:t>https://github.com/YZHJessica/CDVQA</a:t>
            </a:r>
            <a:endParaRPr lang="en-US" sz="1600" dirty="0"/>
          </a:p>
          <a:p>
            <a:r>
              <a:rPr lang="en-US" sz="1600" dirty="0"/>
              <a:t>  Paper: </a:t>
            </a:r>
            <a:r>
              <a:rPr lang="en-US" sz="1600" dirty="0">
                <a:hlinkClick r:id="rId12"/>
              </a:rPr>
              <a:t>https://arxiv.org/abs/2112.06343</a:t>
            </a:r>
            <a:endParaRPr lang="en-US" sz="1600" dirty="0"/>
          </a:p>
          <a:p>
            <a:r>
              <a:rPr lang="en-US" sz="1600" dirty="0"/>
              <a:t>- </a:t>
            </a:r>
            <a:r>
              <a:rPr lang="en-US" sz="1600" dirty="0" err="1"/>
              <a:t>BigEarthNet</a:t>
            </a:r>
            <a:r>
              <a:rPr lang="en-US" sz="1600" dirty="0"/>
              <a:t> v2 / </a:t>
            </a:r>
            <a:r>
              <a:rPr lang="en-US" sz="1600" dirty="0" err="1"/>
              <a:t>reBEN</a:t>
            </a:r>
            <a:r>
              <a:rPr lang="en-US" sz="1600" dirty="0"/>
              <a:t> (Sentinel-1 + Sentinel-2 pairs for optical–SAR fusion)</a:t>
            </a:r>
          </a:p>
          <a:p>
            <a:r>
              <a:rPr lang="en-US" sz="1600" dirty="0"/>
              <a:t>  Dataset: </a:t>
            </a:r>
            <a:r>
              <a:rPr lang="en-US" sz="1600" dirty="0">
                <a:hlinkClick r:id="rId13"/>
              </a:rPr>
              <a:t>https://zenodo.org/records/10891137</a:t>
            </a:r>
            <a:endParaRPr lang="en-US" sz="1600" dirty="0"/>
          </a:p>
          <a:p>
            <a:r>
              <a:rPr lang="en-US" sz="1600" dirty="0"/>
              <a:t>  Paper: </a:t>
            </a:r>
            <a:r>
              <a:rPr lang="en-US" sz="1600" dirty="0">
                <a:hlinkClick r:id="rId13"/>
              </a:rPr>
              <a:t>https://arxiv.org/abs/2407.03653</a:t>
            </a:r>
            <a:endParaRPr lang="en-US" sz="1600" dirty="0"/>
          </a:p>
          <a:p>
            <a:r>
              <a:rPr lang="en-US" sz="1600" dirty="0"/>
              <a:t>- BigEarthNet.txt (captions and reference boxes for captioning)</a:t>
            </a:r>
          </a:p>
          <a:p>
            <a:r>
              <a:rPr lang="en-US" sz="1600" dirty="0"/>
              <a:t>  </a:t>
            </a:r>
            <a:r>
              <a:rPr lang="en-US" sz="1600" dirty="0">
                <a:hlinkClick r:id="rId14"/>
              </a:rPr>
              <a:t>https://huggingface.co/datasets/BIFOLD-BigEarthNetv2-0/BigEarthNet.txt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B92E4-1521-0EEF-A5C8-DAD6CF224CD9}"/>
              </a:ext>
            </a:extLst>
          </p:cNvPr>
          <p:cNvSpPr txBox="1"/>
          <p:nvPr/>
        </p:nvSpPr>
        <p:spPr>
          <a:xfrm>
            <a:off x="776745" y="1543894"/>
            <a:ext cx="531925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github</a:t>
            </a:r>
            <a:r>
              <a:rPr lang="en-US" b="1" dirty="0"/>
              <a:t> Repository Link:</a:t>
            </a:r>
          </a:p>
          <a:p>
            <a:r>
              <a:rPr lang="en-US" sz="2000" dirty="0">
                <a:hlinkClick r:id="rId15"/>
              </a:rPr>
              <a:t>https://github.com/Raghavapranav3443/Anvesha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7986</TotalTime>
  <Words>492</Words>
  <Application>Microsoft Office PowerPoint</Application>
  <PresentationFormat>Widescreen</PresentationFormat>
  <Paragraphs>83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Agency FB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ANVESHA</vt:lpstr>
      <vt:lpstr>TECHNICAL APPROACH</vt:lpstr>
      <vt:lpstr>PowerPoint Presentation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Juluru Raghava Pranav</cp:lastModifiedBy>
  <cp:revision>160</cp:revision>
  <dcterms:created xsi:type="dcterms:W3CDTF">2013-12-12T18:46:50Z</dcterms:created>
  <dcterms:modified xsi:type="dcterms:W3CDTF">2026-09-02T14:49:39Z</dcterms:modified>
  <cp:category/>
</cp:coreProperties>
</file>